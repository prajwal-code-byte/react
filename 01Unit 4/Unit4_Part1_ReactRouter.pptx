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F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— Part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BTIN231  |  S-VYASA University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AI &amp; ML  —  Semester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353312"/>
            <a:ext cx="54864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8032" y="13533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Client-Side Routing?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810512"/>
            <a:ext cx="54864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8105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React Router v6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267712"/>
            <a:ext cx="54864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22677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BrowserRouter, Routes &amp; Route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724912"/>
            <a:ext cx="54864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27249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and NavLink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182112"/>
            <a:ext cx="54864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31821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useNavigate &amp; useParams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3639312"/>
            <a:ext cx="54864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36393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Routes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4096512"/>
            <a:ext cx="54864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40965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/ Private Routes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4553712"/>
            <a:ext cx="54864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45537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— Not Found Page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658368"/>
            <a:ext cx="347472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58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8952" y="67665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Routing &amp; Why We Need It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1463040"/>
            <a:ext cx="347472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8952" y="148132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vs Server-Side Routing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" y="2267712"/>
            <a:ext cx="347472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267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58952" y="228600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&amp; Setting Up React Router v6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3072384"/>
            <a:ext cx="347472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072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8952" y="309067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BrowserRouter, Routes &amp; Route Components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877056"/>
            <a:ext cx="347472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877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8952" y="389534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and NavLink — Navigation Elements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892040" y="658368"/>
            <a:ext cx="347472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658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30952" y="67665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useNavigate — Programmatic Navigation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892040" y="1463040"/>
            <a:ext cx="347472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30952" y="148132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useParams — Dynamic Route Parameters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892040" y="2267712"/>
            <a:ext cx="347472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2267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30952" y="228600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Routes &amp; Layout Routes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892040" y="3072384"/>
            <a:ext cx="347472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072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30952" y="309067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Routes (Auth Guard)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892040" y="3877056"/>
            <a:ext cx="347472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877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30952" y="389534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Not Found Page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5B4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5943600" y="-457200"/>
            <a:ext cx="4114800" cy="6400800"/>
          </a:xfrm>
          <a:prstGeom prst="rect">
            <a:avLst/>
          </a:prstGeom>
          <a:solidFill>
            <a:srgbClr val="3D2FA8"/>
          </a:solidFill>
          <a:ln w="12700">
            <a:solidFill>
              <a:srgbClr val="3D2F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7132320" y="-457200"/>
            <a:ext cx="2743200" cy="6400800"/>
          </a:xfrm>
          <a:prstGeom prst="rect">
            <a:avLst/>
          </a:prstGeom>
          <a:solidFill>
            <a:srgbClr val="4A40BE"/>
          </a:solidFill>
          <a:ln w="12700">
            <a:solidFill>
              <a:srgbClr val="4A40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55448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Routing?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292608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React Apps Need a Router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vs Server-Side Routing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4023360" cy="34747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943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Traditional (Server-Side)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54864" cy="3200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0241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URL = a new HTTP request to server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1618488"/>
            <a:ext cx="54864" cy="3200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63677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returns a brand new HTML page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231136"/>
            <a:ext cx="54864" cy="3200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2494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does a full page reload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843784"/>
            <a:ext cx="54864" cy="3200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8620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— network round-trip every time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3456432"/>
            <a:ext cx="54864" cy="3200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4747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'flashes' on every navigation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46320" y="594360"/>
            <a:ext cx="4023360" cy="347472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5943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  React SPA (Client-Side)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005840"/>
            <a:ext cx="54864" cy="32004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10241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change handled entirely by JavaScript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46320" y="1618488"/>
            <a:ext cx="54864" cy="32004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163677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swaps components — no full reload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46320" y="2231136"/>
            <a:ext cx="54864" cy="32004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22494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file, loaded once on entry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46320" y="2843784"/>
            <a:ext cx="54864" cy="32004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28620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navigation — no network request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46320" y="3456432"/>
            <a:ext cx="54864" cy="32004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10912" y="34747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Smooth, app-like user experience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462272" y="594360"/>
            <a:ext cx="219456" cy="41148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07408" y="2377440"/>
            <a:ext cx="329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74320" y="4206240"/>
            <a:ext cx="8595360" cy="457200"/>
          </a:xfrm>
          <a:prstGeom prst="rect">
            <a:avLst/>
          </a:prstGeom>
          <a:solidFill>
            <a:srgbClr val="EAE8F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4233672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intercepts URL changes, matches them to components, and renders them — all without leaving the page.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5B4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5943600" y="-457200"/>
            <a:ext cx="4114800" cy="6400800"/>
          </a:xfrm>
          <a:prstGeom prst="rect">
            <a:avLst/>
          </a:prstGeom>
          <a:solidFill>
            <a:srgbClr val="3D2FA8"/>
          </a:solidFill>
          <a:ln w="12700">
            <a:solidFill>
              <a:srgbClr val="3D2F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7132320" y="-457200"/>
            <a:ext cx="2743200" cy="6400800"/>
          </a:xfrm>
          <a:prstGeom prst="rect">
            <a:avLst/>
          </a:prstGeom>
          <a:solidFill>
            <a:srgbClr val="4A40BE"/>
          </a:solidFill>
          <a:ln w="12700">
            <a:solidFill>
              <a:srgbClr val="4A40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55448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React Router v6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292608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&amp; Project Structure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&amp; Setting Up React Router v6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35661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4114800" cy="13716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649224"/>
            <a:ext cx="3895344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Install React Router v6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react-router-dom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 installation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list react-router-dom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react-router-dom@6.x.x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0" y="356616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main.jsx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594360"/>
            <a:ext cx="4297680" cy="237744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649224"/>
            <a:ext cx="4078224" cy="2267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2: Wrap your app in BrowserRouter (main.jsx / index.js)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React from 'react';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ReactDOM from 'react-dom/client';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BrowserRouter } from 'react-router-dom';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App from './App';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ReactDOM.createRoot(document.getElementById('root')).render(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&lt;BrowserRouter&gt;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&lt;App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&lt;/BrowserRouter&gt;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191109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App.jsx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4114800" cy="265176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203704"/>
            <a:ext cx="3895344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3: Define routes in App.jsx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Routes, Route } from 'react-router-dom';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Home     from './pages/Home';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About    from './pages/About';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Contact  from './pages/Contact';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NotFound from './pages/NotFound';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App()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&lt;Routes&gt;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&lt;Route path="/"        element={&lt;Home /&gt;}    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&lt;Route path="/about"   element={&lt;About /&gt;}   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&lt;Route path="/contact" element={&lt;Contact /&gt;} 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&lt;Route path="*"        element={&lt;NotFound /&gt;}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&lt;/Routes&gt;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App;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3127248"/>
            <a:ext cx="4297680" cy="190195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290779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Recommended Folder Structure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81728" y="3182112"/>
            <a:ext cx="4114800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main.jsx          ← BrowserRouter lives here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App.jsx           ← Routes defined here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pages/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Home.jsx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About.jsx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Contact.jsx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NotFound.jsx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5B4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5943600" y="-457200"/>
            <a:ext cx="4114800" cy="6400800"/>
          </a:xfrm>
          <a:prstGeom prst="rect">
            <a:avLst/>
          </a:prstGeom>
          <a:solidFill>
            <a:srgbClr val="3D2FA8"/>
          </a:solidFill>
          <a:ln w="12700">
            <a:solidFill>
              <a:srgbClr val="3D2F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7132320" y="-457200"/>
            <a:ext cx="2743200" cy="6400800"/>
          </a:xfrm>
          <a:prstGeom prst="rect">
            <a:avLst/>
          </a:prstGeom>
          <a:solidFill>
            <a:srgbClr val="4A40BE"/>
          </a:solidFill>
          <a:ln w="12700">
            <a:solidFill>
              <a:srgbClr val="4A40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55448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Router Components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292608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BrowserRouter · Routes · Route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BrowserRouter, Routes &amp; Route — Explained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621792"/>
            <a:ext cx="2194560" cy="11887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21792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&lt;BrowserRouter&gt;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0" y="621792"/>
            <a:ext cx="6309360" cy="1188720"/>
          </a:xfrm>
          <a:prstGeom prst="rect">
            <a:avLst/>
          </a:prstGeom>
          <a:solidFill>
            <a:srgbClr val="F7F6FF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694944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the entire app. Uses the HTML5 History API to keep the URL in sync with the UI. Must be placed at the top — usually in main.jsx.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1426464"/>
            <a:ext cx="6309360" cy="329184"/>
          </a:xfrm>
          <a:prstGeom prst="rect">
            <a:avLst/>
          </a:prstGeom>
          <a:solidFill>
            <a:srgbClr val="000000"/>
          </a:solidFill>
          <a:ln w="6350">
            <a:solidFill>
              <a:srgbClr val="5B4F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144475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Only ONE BrowserRouter per app.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011680"/>
            <a:ext cx="2194560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0116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&lt;Routes&gt;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560320" y="2011680"/>
            <a:ext cx="6309360" cy="1188720"/>
          </a:xfrm>
          <a:prstGeom prst="rect">
            <a:avLst/>
          </a:prstGeom>
          <a:solidFill>
            <a:srgbClr val="F7F6FF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2084832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for all your &lt;Route&gt; elements. Looks through all child routes and renders the first one that matches the current URL.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0" y="2816352"/>
            <a:ext cx="6309360" cy="329184"/>
          </a:xfrm>
          <a:prstGeom prst="rect">
            <a:avLst/>
          </a:prstGeom>
          <a:solidFill>
            <a:srgbClr val="000000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97480" y="283464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Replaces &lt;Switch&gt; from v5.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401568"/>
            <a:ext cx="2194560" cy="1188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401568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&lt;Route&gt;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560320" y="3401568"/>
            <a:ext cx="6309360" cy="1188720"/>
          </a:xfrm>
          <a:prstGeom prst="rect">
            <a:avLst/>
          </a:prstGeom>
          <a:solidFill>
            <a:srgbClr val="F7F6FF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97480" y="3474720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a URL path to a component. The path prop defines the URL; element prop defines what to render. Use path="*" to catch unmatched URLs.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0" y="4206240"/>
            <a:ext cx="6309360" cy="329184"/>
          </a:xfrm>
          <a:prstGeom prst="rect">
            <a:avLst/>
          </a:prstGeom>
          <a:solidFill>
            <a:srgbClr val="000000"/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97480" y="4224528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path="*" = 404 / catch-all.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B4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5943600" y="-457200"/>
            <a:ext cx="4114800" cy="6400800"/>
          </a:xfrm>
          <a:prstGeom prst="rect">
            <a:avLst/>
          </a:prstGeom>
          <a:solidFill>
            <a:srgbClr val="3D2FA8"/>
          </a:solidFill>
          <a:ln w="12700">
            <a:solidFill>
              <a:srgbClr val="3D2F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7132320" y="-457200"/>
            <a:ext cx="2743200" cy="6400800"/>
          </a:xfrm>
          <a:prstGeom prst="rect">
            <a:avLst/>
          </a:prstGeom>
          <a:solidFill>
            <a:srgbClr val="4A40BE"/>
          </a:solidFill>
          <a:ln w="12700">
            <a:solidFill>
              <a:srgbClr val="4A40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55448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in React Router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292608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· NavLink · useNavigate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and NavLink — Navigating Between Pages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576072"/>
            <a:ext cx="8503920" cy="512064"/>
          </a:xfrm>
          <a:prstGeom prst="rect">
            <a:avLst/>
          </a:prstGeom>
          <a:solidFill>
            <a:srgbClr val="EAE8F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603504"/>
            <a:ext cx="8357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&lt;a href&gt; for internal navigation in React. It causes a full page reload. Always use &lt;Link&gt; or &lt;NavLink&gt; from react-router-dom.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95097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 — Basic Navigation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4206240" cy="22860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243584"/>
            <a:ext cx="3986784" cy="2176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Link } from 'react-router-dom';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Basic Link — goes to /about, NO page reload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Navbar()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&lt;nav&gt;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&lt;Link to="/"&gt;Home&lt;/Link&gt;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&lt;Link to="/about"&gt;About&lt;/Link&gt;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&lt;Link to="/contact"&gt;Contact&lt;/Link&gt;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&lt;/nav&gt;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63440" y="95097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NavLink — Active Styling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4206240" cy="347472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243584"/>
            <a:ext cx="3986784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NavLink } from 'react-router-dom';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NavLink adds 'active' class automatically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when its path matches the current URL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Navbar()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&lt;nav&gt;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&lt;NavLink to="/"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style={({ isActive }) =&gt; ({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color: isActive ? "#F5A623" : "#FFFFFF",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fontWeight: isActive ? "bold" : "normal",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})}&gt;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Home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&lt;/NavLink&gt;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&lt;NavLink to="/about"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className={({ isActive }) =&gt;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isActive ? "nav-active" : "nav-link"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About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&lt;/NavLink&gt;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&lt;/nav&gt;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3639312"/>
            <a:ext cx="2103120" cy="2743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6393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950208"/>
            <a:ext cx="2103120" cy="182880"/>
          </a:xfrm>
          <a:prstGeom prst="rect">
            <a:avLst/>
          </a:prstGeom>
          <a:solidFill>
            <a:srgbClr val="EAE8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95935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4151376"/>
            <a:ext cx="210312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41605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navigation only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4352544"/>
            <a:ext cx="2103120" cy="182880"/>
          </a:xfrm>
          <a:prstGeom prst="rect">
            <a:avLst/>
          </a:prstGeom>
          <a:solidFill>
            <a:srgbClr val="EAE8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36168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active detection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4553712"/>
            <a:ext cx="210312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562856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general links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4754880"/>
            <a:ext cx="2103120" cy="182880"/>
          </a:xfrm>
          <a:prstGeom prst="rect">
            <a:avLst/>
          </a:prstGeom>
          <a:solidFill>
            <a:srgbClr val="EAE8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764024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prop required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468880" y="3639312"/>
            <a:ext cx="210312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0" y="36393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NavLink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68880" y="3950208"/>
            <a:ext cx="2103120" cy="182880"/>
          </a:xfrm>
          <a:prstGeom prst="rect">
            <a:avLst/>
          </a:prstGeom>
          <a:solidFill>
            <a:srgbClr val="EAE8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14600" y="395935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NavLink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468880" y="4151376"/>
            <a:ext cx="210312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14600" y="41605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+ active state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468880" y="4352544"/>
            <a:ext cx="2103120" cy="182880"/>
          </a:xfrm>
          <a:prstGeom prst="rect">
            <a:avLst/>
          </a:prstGeom>
          <a:solidFill>
            <a:srgbClr val="EAE8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14600" y="436168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if it's the active route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468880" y="4553712"/>
            <a:ext cx="210312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14600" y="4562856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nav menus &amp; tabs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468880" y="4754880"/>
            <a:ext cx="2103120" cy="182880"/>
          </a:xfrm>
          <a:prstGeom prst="rect">
            <a:avLst/>
          </a:prstGeom>
          <a:solidFill>
            <a:srgbClr val="EAE8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4764024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style / className function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useNavigate &amp; useParams Hooks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35661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useNavigate — Programmatic Navigation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5029200" cy="283464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649224"/>
            <a:ext cx="4809744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useNavigate } from 'react-router-dom';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useNavigate — navigate programmatically (not via a link)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LoginPage()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navigate = useNavigate();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handleLogin = ()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after successful login...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navigate("/dashboard");        // go to /dashboard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navigate(-1);                  // go BACK (like browser back btn)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navigate("/home", { replace: true }); // replace history entry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&lt;button onClick={handleLogin}&gt;Login&lt;/button&gt;;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337413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useParams — Dynamic Route Parameters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3611880"/>
            <a:ext cx="5029200" cy="141732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3666744"/>
            <a:ext cx="4809744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useParams } from 'react-router-dom';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Define a dynamic route first: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&lt;Route path="/student/:id" element={&lt;StudentDetail /&gt;} /&gt;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Then read the :id from the URL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StudentDetail()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id } = useParams(); // e.g. URL = /student/42 → id = "42"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&lt;h2&gt;Student ID: {id}&lt;/h2&gt;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{/* Fetch student data using id */}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Navigation to a dynamic route: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 to="/student/42"&gt;View Student 42&lt;/Link&gt;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40680" y="594360"/>
            <a:ext cx="3429000" cy="443484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40680" y="384048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Quick Reference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550408" y="658368"/>
            <a:ext cx="3218688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useNavigate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navigate = useNavigate();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navigate("/path")       // push to history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navigate(-1)            // go back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navigate(1)             // go forward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navigate("/x",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replace: true         // no back-btn entry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─────────────────────────────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useParams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Route: /product/:category/:id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category, id } = useParams();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/product/shoes/99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category = "shoes", id = "99"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─────────────────────────────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Other useful hooks: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useLocation()   // current URL object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useSearchParams()  // query strings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// e.g. ?tab=profile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5B4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5943600" y="-457200"/>
            <a:ext cx="4114800" cy="6400800"/>
          </a:xfrm>
          <a:prstGeom prst="rect">
            <a:avLst/>
          </a:prstGeom>
          <a:solidFill>
            <a:srgbClr val="3D2FA8"/>
          </a:solidFill>
          <a:ln w="12700">
            <a:solidFill>
              <a:srgbClr val="3D2F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7132320" y="-457200"/>
            <a:ext cx="2743200" cy="6400800"/>
          </a:xfrm>
          <a:prstGeom prst="rect">
            <a:avLst/>
          </a:prstGeom>
          <a:solidFill>
            <a:srgbClr val="4A40BE"/>
          </a:solidFill>
          <a:ln w="12700">
            <a:solidFill>
              <a:srgbClr val="4A40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55448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Routes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292608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Routes &amp; &lt;Outlet /&gt;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Routes &amp; the Outlet Component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576072"/>
            <a:ext cx="8503920" cy="512064"/>
          </a:xfrm>
          <a:prstGeom prst="rect">
            <a:avLst/>
          </a:prstGeom>
          <a:solidFill>
            <a:srgbClr val="EAE8F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603504"/>
            <a:ext cx="8357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placeholder component that renders the matched child route's component inside a parent layout. Think of it as a 'slot' for child content.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179576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App.jsx — Nested Route Definition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754880" cy="32004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472184"/>
            <a:ext cx="4535424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App.jsx — nested route structure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Routes, Route } from 'react-router-dom';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Dashboard from './pages/Dashboard';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Overview  from './pages/Overview';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Settings  from './pages/Settings';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Profile   from './pages/Profile';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App()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&lt;Routes&gt;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&lt;Route path="/dashboard" element={&lt;Dashboard /&gt;}&gt;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{/* Child routes render inside &lt;Outlet /&gt; in Dashboard */}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&lt;Route index         element={&lt;Overview /&gt;} 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&lt;Route path="settings" element={&lt;Settings /&gt;}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&lt;Route path="profile"  element={&lt;Profile /&gt;} 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&lt;/Route&gt;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&lt;/Routes&gt;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166360" y="1179576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Dashboard.jsx — Layout with Outlet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66360" y="1417320"/>
            <a:ext cx="3703320" cy="265176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76088" y="1472184"/>
            <a:ext cx="3483864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Dashboard.jsx — the Layout Component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Outlet, NavLink } from 'react-router-dom';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Dashboard()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&lt;h1&gt;Dashboard&lt;/h1&gt;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{/* Sidebar nav for child routes */}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&lt;nav&gt;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&lt;NavLink to="/dashboard"&gt;Overview&lt;/NavLink&gt;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&lt;NavLink to="/dashboard/settings"&gt;Settings&lt;/NavLink&gt;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&lt;NavLink to="/dashboard/profile"&gt;Profile&lt;/NavLink&gt;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&lt;/nav&gt;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{/* ↓ Child route renders here */}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&lt;Outlet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Dashboard;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solidFill>
            <a:srgbClr val="EAE8F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690872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2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/dashboard  →  Dashboard + Overview     |     /dashboard/settings  →  Dashboard + Settings     |     /dashboard/profile  →  Dashboard + Profile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5B4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5943600" y="-457200"/>
            <a:ext cx="4114800" cy="6400800"/>
          </a:xfrm>
          <a:prstGeom prst="rect">
            <a:avLst/>
          </a:prstGeom>
          <a:solidFill>
            <a:srgbClr val="3D2FA8"/>
          </a:solidFill>
          <a:ln w="12700">
            <a:solidFill>
              <a:srgbClr val="3D2F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7132320" y="-457200"/>
            <a:ext cx="2743200" cy="6400800"/>
          </a:xfrm>
          <a:prstGeom prst="rect">
            <a:avLst/>
          </a:prstGeom>
          <a:solidFill>
            <a:srgbClr val="4A40BE"/>
          </a:solidFill>
          <a:ln w="12700">
            <a:solidFill>
              <a:srgbClr val="4A40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55448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292608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Guarding Pages with Auth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Routes — Auth Guard Pattern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576072"/>
            <a:ext cx="8503920" cy="512064"/>
          </a:xfrm>
          <a:prstGeom prst="rect">
            <a:avLst/>
          </a:prstGeom>
          <a:solidFill>
            <a:srgbClr val="EAE8F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603504"/>
            <a:ext cx="8357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wrapper component that checks if the user is authenticated. If yes, renders the child route. If no, redirects to the login page using &lt;Navigate&gt;.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95097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ProtectedRoute.jsx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4206240" cy="237744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243584"/>
            <a:ext cx="3986784" cy="2267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Navigate } from 'react-router-dom';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ProtectedRoute wrapper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ProtectedRoute({ children })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isLoggedIn = localStorage.getItem("token");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(!isLoggedIn)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&lt;Navigate to="/login" replace /&gt;;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children; // render the actual page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63440" y="95097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App.jsx — Using ProtectedRoute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4206240" cy="32004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243584"/>
            <a:ext cx="3986784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App.jsx — wrapping routes with ProtectedRoute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App()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&lt;Routes&gt;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{/* Public routes */}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&lt;Route path="/"      element={&lt;Home /&gt;} 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&lt;Route path="/login" element={&lt;Login /&gt;} /&gt;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{/* Protected routes */}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&lt;Route path="/dashboard"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element={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&lt;ProtectedRoute&gt;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&lt;Dashboard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&lt;/ProtectedRoute&gt;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&lt;Route path="/profile"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element={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&lt;ProtectedRoute&gt;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&lt;Profile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&lt;/ProtectedRoute&gt;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&lt;/Routes&gt;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3703320"/>
            <a:ext cx="128016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703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visits /dashboard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572768" y="3794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691640" y="3703320"/>
            <a:ext cx="128016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91640" y="3703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ProtectedRoute checks token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990088" y="3794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108960" y="3703320"/>
            <a:ext cx="1280160" cy="45720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0" y="3703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exists?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4297680"/>
            <a:ext cx="128016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2976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Render page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691640" y="4297680"/>
            <a:ext cx="128016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91640" y="42976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Redirect to /login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Page &amp; Routing Best Practices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356616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 Not Found Page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4297680" cy="329184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649224"/>
            <a:ext cx="4078224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Catch-all route — always the LAST route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&lt;Routes&gt;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&lt;Route path="/"       element={&lt;Home /&gt;}    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&lt;Route path="/about"  element={&lt;About /&gt;}   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&lt;Route path="*"       element={&lt;NotFound /&gt;}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{/* path="*" matches ANY unmatched URL */}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&lt;/Routes&gt;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NotFound.jsx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Link } from 'react-router-dom';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NotFound()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style={{ textAlign: "center", marginTop: "80px" }}&gt;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&lt;h1&gt;404 — Page Not Found&lt;/h1&gt;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&lt;p&gt;The page you are looking for does not exist.&lt;/p&gt;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&lt;Link to="/"&gt;← Back to Home&lt;/Link&gt;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NotFound;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594360"/>
            <a:ext cx="1005840" cy="2926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5943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DO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Always wrap app in &lt;BrowserRouter&gt; in main.jsx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13441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&lt;Link&gt; / &lt;NavLink&gt; — never &lt;a href&gt; for internal links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172821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path="*" as the last route for 404 handling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211226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useNavigate() for programmatic navigation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249631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&lt;Outlet /&gt; in layout components for nested routes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1143000" cy="2926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92608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DON'T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329184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Don't nest &lt;BrowserRouter&gt; — only one per app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363931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Don't use &lt;a href&gt; for internal navigation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3986784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Don't put the catch-all route before other routes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433425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Don't forget replace:true when redirecting after auth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4681728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Don't use navigate() in render — only in event handlers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5B4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5943600" y="-457200"/>
            <a:ext cx="4114800" cy="6400800"/>
          </a:xfrm>
          <a:prstGeom prst="rect">
            <a:avLst/>
          </a:prstGeom>
          <a:solidFill>
            <a:srgbClr val="3D2FA8"/>
          </a:solidFill>
          <a:ln w="12700">
            <a:solidFill>
              <a:srgbClr val="3D2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Exercises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Multi-Page Student Portal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66928"/>
            <a:ext cx="1143000" cy="274320"/>
          </a:xfrm>
          <a:prstGeom prst="rect">
            <a:avLst>
              <a:gd name="adj" fmla="val 5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566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896112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Student Portal with 4 pages: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Home  •  Courses  •  Profile  •  About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Requirements: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Navbar with NavLink — highlight active page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useNavigate to redirect to Home after a "Logout" button click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Dynamic route /student/:id — show student name from a mock array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404 page for unmatched URLs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52374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App.jsx Starter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2761488"/>
            <a:ext cx="5029200" cy="210312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2816352"/>
            <a:ext cx="4809744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App.jsx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Routes, Route } from 'react-router-dom';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Navbar       from './components/Navbar';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Home         from './pages/Home';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Courses      from './pages/Courses';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Profile      from './pages/Profile';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About        from './pages/About';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StudentDetail from './pages/StudentDetail';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NotFound     from './pages/NotFound';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App()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&lt;Navbar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&lt;Routes&gt;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&lt;Route path="/"             element={&lt;Home /&gt;}         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&lt;Route path="/courses"      element={&lt;Courses /&gt;}      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&lt;Route path="/profile"      element={&lt;Profile /&gt;}      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&lt;Route path="/about"        element={&lt;About /&gt;}        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&lt;Route path="/student/:id"  element={&lt;StudentDetail /&gt;}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&lt;Route path="*"             element={&lt;NotFound /&gt;}     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&lt;/Routes&gt;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40680" y="329184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Navbar.jsx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40680" y="566928"/>
            <a:ext cx="3429000" cy="452628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50408" y="621792"/>
            <a:ext cx="3209544" cy="4416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Navbar.jsx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NavLink, useNavigate } from 'react-router-dom';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Navbar()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navigate = useNavigate();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&lt;nav style={{ background:"#5B4FCF", padding:"12px 24px",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display:"flex", gap:"20px" }}&gt;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&lt;NavLink to="/"        style={activeStyle}&gt;Home&lt;/NavLink&gt;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&lt;NavLink to="/courses" style={activeStyle}&gt;Courses&lt;/NavLink&gt;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&lt;NavLink to="/profile" style={activeStyle}&gt;Profile&lt;/NavLink&gt;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&lt;NavLink to="/about"   style={activeStyle}&gt;About&lt;/NavLink&gt;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&lt;button onClick={() =&gt; navigate("/")}&gt;Logout&lt;/button&gt;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&lt;/nav&gt;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activeStyle = ({ isActive }) =&gt; ({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isActive ? "#F5A623" : "#FFFFFF",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fontWeight: isActive ? "bold" : "normal",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textDecoration: "none",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Navbar;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Dashboard with Nested Routes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66928"/>
            <a:ext cx="1143000" cy="274320"/>
          </a:xfrm>
          <a:prstGeom prst="rect">
            <a:avLst>
              <a:gd name="adj" fmla="val 5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566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877824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Dashboard layout with nested routes: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/dashboard  → Overview (index route)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/dashboard/profile  → Profile page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/dashboard/settings  → Settings page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Sidebar navigation using NavLink inside Dashboard layout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Extension: Add a ProtectedRoute — redirect to /login if not authenticated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32257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App.jsx + Dashboard.jsx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2560320"/>
            <a:ext cx="5029200" cy="25146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2615184"/>
            <a:ext cx="4809744" cy="2404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App.jsx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&lt;Routes&gt;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&lt;Route path="/login"     element={&lt;Login /&gt;}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&lt;Route path="/dashboard" element={&lt;Dashboard /&gt;}&gt;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&lt;Route index            element={&lt;Overview /&gt;} 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&lt;Route path="profile"   element={&lt;Profile /&gt;}  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&lt;Route path="settings"  element={&lt;Settings /&gt;} 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&lt;/Route&gt;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&lt;Route path="*" element={&lt;NotFound /&gt;}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&lt;/Routes&gt;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Dashboard.jsx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Outlet, NavLink } from 'react-router-dom';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Dashboard()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style={{ display:"flex" }}&gt;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&lt;aside style={{ width:"200px", background:"#EAE8FF",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padding:"20px", minHeight:"100vh" }}&gt;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&lt;NavLink to="/dashboard"&gt;Overview&lt;/NavLink&gt;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&lt;NavLink to="/dashboard/profile"&gt;Profile&lt;/NavLink&gt;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&lt;NavLink to="/dashboard/settings"&gt;Settings&lt;/NavLink&gt;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&lt;/aside&gt;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&lt;main style={{ padding:"24px", flex:1 }}&gt;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&lt;Outlet /&gt; {/* child route renders here */}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&lt;/main&gt;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40680" y="566928"/>
            <a:ext cx="3429000" cy="4507992"/>
          </a:xfrm>
          <a:prstGeom prst="rect">
            <a:avLst/>
          </a:prstGeom>
          <a:solidFill>
            <a:srgbClr val="EAE8FF"/>
          </a:solidFill>
          <a:ln w="19050">
            <a:solidFill>
              <a:srgbClr val="5B4F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621792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Task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32120" y="987552"/>
            <a:ext cx="3246120" cy="397764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41848" y="1042416"/>
            <a:ext cx="3026664" cy="3867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ProtectedRoute.jsx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Navigate } from 'react-router-dom';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ProtectedRoute({ children })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token = localStorage.getItem("token");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token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? children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&lt;Navigate to="/login" replace /&gt;;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Wrap dashboard route: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&lt;Route path="/dashboard"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element={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&lt;ProtectedRoute&gt;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&lt;Dashboard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&lt;/ProtectedRoute&gt;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&lt;Route index element={&lt;Overview /&gt;}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&lt;/Route&gt;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Login.jsx — set token on login: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localStorage.setItem("token", "abc123");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navigate("/dashboard");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— React Router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420624" cy="310896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94360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86384" y="61264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BrowserRouter and the native &lt;a&gt; tag?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86384" y="90525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BrowserRouter intercepts navigation and swaps components without a full page reload. &lt;a href&gt; makes a new HTTP request, reloading the whole page and losing React state.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444752"/>
            <a:ext cx="420624" cy="310896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44752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6384" y="1463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Link and NavLink?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6384" y="175564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Both navigate without reload. NavLink additionally detects if its route is currently active and applies an 'active' style/class automatically.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295144"/>
            <a:ext cx="420624" cy="310896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295144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86384" y="23134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pass and read a dynamic segment in the URL?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6384" y="260604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Define the route with a colon: path='/student/:id'. Read it inside the component with const { id } = useParams().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145536"/>
            <a:ext cx="420624" cy="310896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145536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86384" y="316382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&lt;Outlet /&gt; do?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86384" y="345643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It is a placeholder in a parent layout component that renders whichever matching child route is currently active.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995928"/>
            <a:ext cx="420624" cy="310896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995928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86384" y="401421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path='*' mean on a Route?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86384" y="430682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It is a catch-all wildcard that matches any URL not matched by earlier routes — used for 404 Not Found pages. Must be last.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5B4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4 – Part 1: React Router</dc:title>
  <dc:subject>PptxGenJS Presentation</dc:subject>
  <dc:creator>PptxGenJS</dc:creator>
  <cp:lastModifiedBy>PptxGenJS</cp:lastModifiedBy>
  <cp:revision>1</cp:revision>
  <dcterms:created xsi:type="dcterms:W3CDTF">2026-04-28T05:24:46Z</dcterms:created>
  <dcterms:modified xsi:type="dcterms:W3CDTF">2026-04-28T05:24:46Z</dcterms:modified>
</cp:coreProperties>
</file>